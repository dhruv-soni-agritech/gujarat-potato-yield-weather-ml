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71" r:id="rId4"/>
    <p:sldId id="288" r:id="rId5"/>
    <p:sldId id="275" r:id="rId6"/>
    <p:sldId id="259" r:id="rId7"/>
    <p:sldId id="260" r:id="rId8"/>
    <p:sldId id="258" r:id="rId9"/>
    <p:sldId id="291" r:id="rId10"/>
    <p:sldId id="276" r:id="rId11"/>
    <p:sldId id="262" r:id="rId12"/>
    <p:sldId id="263" r:id="rId13"/>
    <p:sldId id="264" r:id="rId14"/>
    <p:sldId id="274" r:id="rId15"/>
    <p:sldId id="287" r:id="rId16"/>
    <p:sldId id="280" r:id="rId17"/>
    <p:sldId id="282" r:id="rId18"/>
    <p:sldId id="281" r:id="rId19"/>
    <p:sldId id="266" r:id="rId20"/>
    <p:sldId id="283" r:id="rId21"/>
    <p:sldId id="284" r:id="rId22"/>
    <p:sldId id="285" r:id="rId23"/>
    <p:sldId id="269" r:id="rId24"/>
    <p:sldId id="286" r:id="rId2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629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E6437E-CE0F-4CDB-B84B-B2DEF8A1A92E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31567F-28E4-4E01-BF95-61F83898A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0922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31567F-28E4-4E01-BF95-61F83898A712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74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E5FEE1-074A-3FA7-5A8F-2A45D706F9F0}"/>
              </a:ext>
            </a:extLst>
          </p:cNvPr>
          <p:cNvSpPr txBox="1"/>
          <p:nvPr/>
        </p:nvSpPr>
        <p:spPr>
          <a:xfrm>
            <a:off x="127000" y="8305800"/>
            <a:ext cx="396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Submitted by: -</a:t>
            </a:r>
            <a:r>
              <a:rPr lang="en-IN" dirty="0"/>
              <a:t> </a:t>
            </a:r>
            <a:r>
              <a:rPr lang="en-IN" dirty="0" err="1"/>
              <a:t>Sibbala</a:t>
            </a:r>
            <a:r>
              <a:rPr lang="en-IN" dirty="0"/>
              <a:t> </a:t>
            </a:r>
            <a:r>
              <a:rPr lang="en-IN" dirty="0" err="1"/>
              <a:t>Yoshitha</a:t>
            </a:r>
            <a:r>
              <a:rPr lang="en-IN" dirty="0"/>
              <a:t>,</a:t>
            </a:r>
            <a:br>
              <a:rPr lang="en-IN" dirty="0"/>
            </a:br>
            <a:r>
              <a:rPr lang="en-IN" dirty="0" err="1"/>
              <a:t>Vodnala</a:t>
            </a:r>
            <a:r>
              <a:rPr lang="en-IN" dirty="0"/>
              <a:t> Likitha, Swathi Patil, Yash Patel, Tushar </a:t>
            </a:r>
            <a:r>
              <a:rPr lang="en-IN" dirty="0" err="1"/>
              <a:t>Vadodariya</a:t>
            </a:r>
            <a:r>
              <a:rPr lang="en-IN" dirty="0"/>
              <a:t> and Dhruv Soni.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F7BB2B-D688-B1A4-5073-4C815492029F}"/>
              </a:ext>
            </a:extLst>
          </p:cNvPr>
          <p:cNvSpPr txBox="1"/>
          <p:nvPr/>
        </p:nvSpPr>
        <p:spPr>
          <a:xfrm>
            <a:off x="12471400" y="8576965"/>
            <a:ext cx="556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Submitted to: -</a:t>
            </a:r>
            <a:r>
              <a:rPr lang="en-IN" dirty="0"/>
              <a:t> Dr. V.B.Vaidya </a:t>
            </a:r>
          </a:p>
        </p:txBody>
      </p:sp>
      <p:pic>
        <p:nvPicPr>
          <p:cNvPr id="5" name="Picture 4" descr="Untitled">
            <a:extLst>
              <a:ext uri="{FF2B5EF4-FFF2-40B4-BE49-F238E27FC236}">
                <a16:creationId xmlns:a16="http://schemas.microsoft.com/office/drawing/2014/main" id="{D5472C6B-D4EB-8532-6853-39A231E7AD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889000" cy="838200"/>
          </a:xfrm>
          <a:prstGeom prst="rect">
            <a:avLst/>
          </a:prstGeom>
        </p:spPr>
      </p:pic>
      <p:pic>
        <p:nvPicPr>
          <p:cNvPr id="6" name="Picture 5" descr="Honoured to design the commemorative logo celebrating 25 years of excellence at Dhirubhai Ambani University! This logo is more than just a design.It's a symbol of growth, knowledge, and celebration. The stylized “">
            <a:extLst>
              <a:ext uri="{FF2B5EF4-FFF2-40B4-BE49-F238E27FC236}">
                <a16:creationId xmlns:a16="http://schemas.microsoft.com/office/drawing/2014/main" id="{43622DFA-CF44-44D2-0026-31DE9CEE65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29294" y="1"/>
            <a:ext cx="1011417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5" name="Source Note"/>
          <p:cNvSpPr txBox="1"/>
          <p:nvPr/>
        </p:nvSpPr>
        <p:spPr>
          <a:xfrm>
            <a:off x="203200" y="8845000"/>
            <a:ext cx="13500000" cy="260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IN" sz="1400" i="1" dirty="0">
                <a:solidFill>
                  <a:srgbClr val="262626"/>
                </a:solidFill>
              </a:rPr>
              <a:t>Source: Directorate of Horticulture, Govt. of Gujarat (potato area, production &amp; yield, 2023–24); Horticultural Statistics at a Glance, MoA&amp;FW, Govt. of India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281ACDA-ECD2-2898-CDC5-863ACDB40C82}"/>
              </a:ext>
            </a:extLst>
          </p:cNvPr>
          <p:cNvSpPr/>
          <p:nvPr/>
        </p:nvSpPr>
        <p:spPr>
          <a:xfrm>
            <a:off x="203200" y="7848600"/>
            <a:ext cx="2057400" cy="457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Banaskantha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73B3F7D-E999-2684-8D3F-FB39EA845857}"/>
              </a:ext>
            </a:extLst>
          </p:cNvPr>
          <p:cNvSpPr/>
          <p:nvPr/>
        </p:nvSpPr>
        <p:spPr>
          <a:xfrm>
            <a:off x="203200" y="8358851"/>
            <a:ext cx="2057400" cy="457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Sabarkantha</a:t>
            </a: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BD159BC-5A85-AF1B-2031-8F8904C17B4E}"/>
              </a:ext>
            </a:extLst>
          </p:cNvPr>
          <p:cNvSpPr/>
          <p:nvPr/>
        </p:nvSpPr>
        <p:spPr>
          <a:xfrm>
            <a:off x="2463800" y="8084923"/>
            <a:ext cx="2057400" cy="457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Mehsana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ource Note"/>
          <p:cNvSpPr txBox="1"/>
          <p:nvPr/>
        </p:nvSpPr>
        <p:spPr>
          <a:xfrm>
            <a:off x="127000" y="8579200"/>
            <a:ext cx="7086600" cy="5648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IN" sz="1400" i="1" dirty="0">
                <a:solidFill>
                  <a:srgbClr val="262626"/>
                </a:solidFill>
              </a:rPr>
              <a:t>Source: NASA POWER – Prediction Of Worldwide Energy Resources (power.larc.nasa.gov); Directorate of Horticulture, Govt. of Gujarat</a:t>
            </a:r>
          </a:p>
        </p:txBody>
      </p:sp>
      <p:sp>
        <p:nvSpPr>
          <p:cNvPr id="4" name="Rectangle: Folded Corner 3">
            <a:extLst>
              <a:ext uri="{FF2B5EF4-FFF2-40B4-BE49-F238E27FC236}">
                <a16:creationId xmlns:a16="http://schemas.microsoft.com/office/drawing/2014/main" id="{342B730A-B6E4-4151-85CE-57CC806FF363}"/>
              </a:ext>
            </a:extLst>
          </p:cNvPr>
          <p:cNvSpPr/>
          <p:nvPr/>
        </p:nvSpPr>
        <p:spPr>
          <a:xfrm>
            <a:off x="1574800" y="3733800"/>
            <a:ext cx="1219200" cy="838200"/>
          </a:xfrm>
          <a:prstGeom prst="foldedCorner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1996 to 2025</a:t>
            </a:r>
          </a:p>
        </p:txBody>
      </p:sp>
      <p:sp>
        <p:nvSpPr>
          <p:cNvPr id="6" name="Rectangle: Folded Corner 5">
            <a:extLst>
              <a:ext uri="{FF2B5EF4-FFF2-40B4-BE49-F238E27FC236}">
                <a16:creationId xmlns:a16="http://schemas.microsoft.com/office/drawing/2014/main" id="{77C98074-F89D-FCA1-6305-0FCC826D4E15}"/>
              </a:ext>
            </a:extLst>
          </p:cNvPr>
          <p:cNvSpPr/>
          <p:nvPr/>
        </p:nvSpPr>
        <p:spPr>
          <a:xfrm>
            <a:off x="13690600" y="3886200"/>
            <a:ext cx="1219200" cy="838200"/>
          </a:xfrm>
          <a:prstGeom prst="foldedCorne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1996 to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9" y="243846"/>
            <a:ext cx="15520804" cy="731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Interpolated weather maps of the three North Gujarat potato districts (rabi season, SMW 42–8)</a:t>
            </a:r>
          </a:p>
        </p:txBody>
      </p:sp>
      <p:pic>
        <p:nvPicPr>
          <p:cNvPr id="3" name="Picture 2" descr="maps_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6" y="1036346"/>
            <a:ext cx="15764650" cy="74373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290074" y="4815960"/>
            <a:ext cx="4572114" cy="426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Rabi-season mean by district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216921" y="5364614"/>
          <a:ext cx="4694038" cy="2377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59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3153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District</a:t>
                      </a:r>
                    </a:p>
                  </a:txBody>
                  <a:tcPr marL="27432" marR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MAXT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°C</a:t>
                      </a:r>
                    </a:p>
                  </a:txBody>
                  <a:tcPr marL="27432" marR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MINT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°C</a:t>
                      </a:r>
                    </a:p>
                  </a:txBody>
                  <a:tcPr marL="27432" marR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RH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%</a:t>
                      </a:r>
                    </a:p>
                  </a:txBody>
                  <a:tcPr marL="27432" marR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WS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m/s</a:t>
                      </a:r>
                    </a:p>
                  </a:txBody>
                  <a:tcPr marL="27432" marR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BSS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h/day</a:t>
                      </a:r>
                    </a:p>
                  </a:txBody>
                  <a:tcPr marL="27432" marR="27432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5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Segoe UI"/>
                          <a:ea typeface="Segoe UI"/>
                          <a:cs typeface="Segoe UI"/>
                        </a:rPr>
                        <a:t>Banaskantha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Segoe UI"/>
                          <a:ea typeface="Segoe UI"/>
                          <a:cs typeface="Segoe UI"/>
                        </a:rPr>
                        <a:t>30.04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Segoe UI"/>
                          <a:ea typeface="Segoe UI"/>
                          <a:cs typeface="Segoe UI"/>
                        </a:rPr>
                        <a:t>14.06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Segoe UI"/>
                          <a:ea typeface="Segoe UI"/>
                          <a:cs typeface="Segoe UI"/>
                        </a:rPr>
                        <a:t>34.12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Segoe UI"/>
                          <a:ea typeface="Segoe UI"/>
                          <a:cs typeface="Segoe UI"/>
                        </a:rPr>
                        <a:t>2.77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Segoe UI"/>
                          <a:ea typeface="Segoe UI"/>
                          <a:cs typeface="Segoe UI"/>
                        </a:rPr>
                        <a:t>8.79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5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Segoe UI"/>
                          <a:ea typeface="Segoe UI"/>
                          <a:cs typeface="Segoe UI"/>
                        </a:rPr>
                        <a:t>Sabarkantha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Segoe UI"/>
                          <a:ea typeface="Segoe UI"/>
                          <a:cs typeface="Segoe UI"/>
                        </a:rPr>
                        <a:t>30.40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Segoe UI"/>
                          <a:ea typeface="Segoe UI"/>
                          <a:cs typeface="Segoe UI"/>
                        </a:rPr>
                        <a:t>14.38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Segoe UI"/>
                          <a:ea typeface="Segoe UI"/>
                          <a:cs typeface="Segoe UI"/>
                        </a:rPr>
                        <a:t>34.81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Segoe UI"/>
                          <a:ea typeface="Segoe UI"/>
                          <a:cs typeface="Segoe UI"/>
                        </a:rPr>
                        <a:t>3.07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Segoe UI"/>
                          <a:ea typeface="Segoe UI"/>
                          <a:cs typeface="Segoe UI"/>
                        </a:rPr>
                        <a:t>8.64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5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Segoe UI"/>
                          <a:ea typeface="Segoe UI"/>
                          <a:cs typeface="Segoe UI"/>
                        </a:rPr>
                        <a:t>Mehsana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Segoe UI"/>
                          <a:ea typeface="Segoe UI"/>
                          <a:cs typeface="Segoe UI"/>
                        </a:rPr>
                        <a:t>31.38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Segoe UI"/>
                          <a:ea typeface="Segoe UI"/>
                          <a:cs typeface="Segoe UI"/>
                        </a:rPr>
                        <a:t>14.83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Segoe UI"/>
                          <a:ea typeface="Segoe UI"/>
                          <a:cs typeface="Segoe UI"/>
                        </a:rPr>
                        <a:t>35.82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Segoe UI"/>
                          <a:ea typeface="Segoe UI"/>
                          <a:cs typeface="Segoe UI"/>
                        </a:rPr>
                        <a:t>2.92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Segoe UI"/>
                          <a:ea typeface="Segoe UI"/>
                          <a:cs typeface="Segoe UI"/>
                        </a:rPr>
                        <a:t>9.24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9" y="8534614"/>
            <a:ext cx="15520804" cy="426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Colour scale runs from the minimum to the maximum district value of each parameter; surface interpolated by inverse-distance weighting (power 2) between district centroids and clipped to district boundaries.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ource Note"/>
          <p:cNvSpPr txBox="1"/>
          <p:nvPr/>
        </p:nvSpPr>
        <p:spPr>
          <a:xfrm>
            <a:off x="203200" y="8845000"/>
            <a:ext cx="13500000" cy="260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IN" sz="1400" i="1" dirty="0">
                <a:solidFill>
                  <a:srgbClr val="262626"/>
                </a:solidFill>
              </a:rPr>
              <a:t>Source: India Meteorological Department (IMD) – Standard Meteorological Week (SMW) calendar; authors' 19-week Rabi-season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ource Note"/>
          <p:cNvSpPr txBox="1"/>
          <p:nvPr/>
        </p:nvSpPr>
        <p:spPr>
          <a:xfrm>
            <a:off x="508000" y="8763000"/>
            <a:ext cx="13500000" cy="260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IN" sz="1400" i="1" dirty="0">
                <a:solidFill>
                  <a:srgbClr val="262626"/>
                </a:solidFill>
              </a:rPr>
              <a:t>Source: SDAU, potato growth stages; IMD Standard Meteorological Week calendar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ource Note"/>
          <p:cNvSpPr txBox="1"/>
          <p:nvPr/>
        </p:nvSpPr>
        <p:spPr>
          <a:xfrm>
            <a:off x="203200" y="8845000"/>
            <a:ext cx="13500000" cy="260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IN" sz="1400" i="1" dirty="0">
                <a:solidFill>
                  <a:srgbClr val="FFFFFF"/>
                </a:solidFill>
              </a:rPr>
              <a:t>Source: Conceptual illustration of daily vs. seasonal-average temperature, based on NASA POWER daily meteorological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30B172-F17B-19F3-5212-692602647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14913635" y="8892540"/>
            <a:ext cx="1305535" cy="18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ource Note"/>
          <p:cNvSpPr txBox="1"/>
          <p:nvPr/>
        </p:nvSpPr>
        <p:spPr>
          <a:xfrm>
            <a:off x="203200" y="8845000"/>
            <a:ext cx="13500000" cy="260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IN" sz="1400" i="1" dirty="0">
                <a:solidFill>
                  <a:srgbClr val="262626"/>
                </a:solidFill>
              </a:rPr>
              <a:t>Source: Authors' detrending of district yield series (Directorate of Horticulture, Govt. of Gujarat): Yield = Trend + Anomaly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ource Note"/>
          <p:cNvSpPr txBox="1"/>
          <p:nvPr/>
        </p:nvSpPr>
        <p:spPr>
          <a:xfrm>
            <a:off x="203200" y="8845000"/>
            <a:ext cx="13500000" cy="260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IN" sz="1400" i="1" dirty="0">
                <a:solidFill>
                  <a:srgbClr val="262626"/>
                </a:solidFill>
              </a:rPr>
              <a:t>Source: Authors' feature engineering: 5 NASA POWER parameters × 19 SMW = 95 features, plus 1 lag-1 yield anomaly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D8E8F8-9DBE-BE22-43FC-84D7F18A72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86298" y="8692587"/>
            <a:ext cx="2495102" cy="41241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ource Note"/>
          <p:cNvSpPr txBox="1"/>
          <p:nvPr/>
        </p:nvSpPr>
        <p:spPr>
          <a:xfrm>
            <a:off x="203200" y="8845000"/>
            <a:ext cx="13500000" cy="260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IN" sz="1400" i="1" dirty="0">
                <a:solidFill>
                  <a:srgbClr val="262626"/>
                </a:solidFill>
              </a:rPr>
              <a:t>Source: scikit-learn feature-selection methods; Guyon &amp; Elisseeff (2003), J. Machine Learning Research, 3:1157–1182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ource Note"/>
          <p:cNvSpPr txBox="1"/>
          <p:nvPr/>
        </p:nvSpPr>
        <p:spPr>
          <a:xfrm>
            <a:off x="203200" y="8845000"/>
            <a:ext cx="13500000" cy="260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IN" sz="1400" i="1" dirty="0">
                <a:solidFill>
                  <a:srgbClr val="262626"/>
                </a:solidFill>
              </a:rPr>
              <a:t>Source: scikit-learn; Breiman (2001) Random Forests; Chen &amp; Guestrin (2016) XGBoost; Drucker et al. (1997) SVR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8C4F58-FEE3-2BF8-2016-364A44C56C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86298" y="8686801"/>
            <a:ext cx="2495102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ource Note"/>
          <p:cNvSpPr txBox="1"/>
          <p:nvPr/>
        </p:nvSpPr>
        <p:spPr>
          <a:xfrm>
            <a:off x="203200" y="8845000"/>
            <a:ext cx="13500000" cy="260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IN" sz="1400" i="1" dirty="0">
                <a:solidFill>
                  <a:srgbClr val="262626"/>
                </a:solidFill>
              </a:rPr>
              <a:t>Source: Hastie, Tibshirani &amp; Friedman (2009), The Elements of Statistical Learning (cross-validation); scikit-learn model selection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30000" y="0"/>
            <a:ext cx="15500000" cy="7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4000" b="1" dirty="0">
                <a:solidFill>
                  <a:srgbClr val="1B3B2B"/>
                </a:solidFill>
                <a:latin typeface="Segoe UI"/>
                <a:ea typeface="Segoe UI"/>
                <a:cs typeface="Segoe UI"/>
              </a:rPr>
              <a:t>District-wise Results Across All Six Models</a:t>
            </a:r>
          </a:p>
        </p:txBody>
      </p:sp>
      <p:sp>
        <p:nvSpPr>
          <p:cNvPr id="10" name="Source Note"/>
          <p:cNvSpPr txBox="1"/>
          <p:nvPr/>
        </p:nvSpPr>
        <p:spPr>
          <a:xfrm>
            <a:off x="203200" y="8887672"/>
            <a:ext cx="13944600" cy="217328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1400" i="1" dirty="0">
                <a:solidFill>
                  <a:srgbClr val="262626"/>
                </a:solidFill>
                <a:latin typeface="Segoe UI"/>
                <a:ea typeface="Segoe UI"/>
                <a:cs typeface="Segoe UI"/>
              </a:rPr>
              <a:t>Source: Authors' district-wise LOOCV results for the six candidate models (Multiple Linear Regression, RF, XGBoost, SVR, KNN, ANN); NASA POWER and Gujarat Horticulture data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EDD2AA2-BA11-4C16-38DF-83D3A0063E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6911841"/>
              </p:ext>
            </p:extLst>
          </p:nvPr>
        </p:nvGraphicFramePr>
        <p:xfrm>
          <a:off x="292408" y="1028800"/>
          <a:ext cx="15499999" cy="243840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1207286">
                  <a:extLst>
                    <a:ext uri="{9D8B030D-6E8A-4147-A177-3AD203B41FA5}">
                      <a16:colId xmlns:a16="http://schemas.microsoft.com/office/drawing/2014/main" val="2284921808"/>
                    </a:ext>
                  </a:extLst>
                </a:gridCol>
                <a:gridCol w="2434046">
                  <a:extLst>
                    <a:ext uri="{9D8B030D-6E8A-4147-A177-3AD203B41FA5}">
                      <a16:colId xmlns:a16="http://schemas.microsoft.com/office/drawing/2014/main" val="341406919"/>
                    </a:ext>
                  </a:extLst>
                </a:gridCol>
                <a:gridCol w="798366">
                  <a:extLst>
                    <a:ext uri="{9D8B030D-6E8A-4147-A177-3AD203B41FA5}">
                      <a16:colId xmlns:a16="http://schemas.microsoft.com/office/drawing/2014/main" val="2978379435"/>
                    </a:ext>
                  </a:extLst>
                </a:gridCol>
                <a:gridCol w="623115">
                  <a:extLst>
                    <a:ext uri="{9D8B030D-6E8A-4147-A177-3AD203B41FA5}">
                      <a16:colId xmlns:a16="http://schemas.microsoft.com/office/drawing/2014/main" val="1308508776"/>
                    </a:ext>
                  </a:extLst>
                </a:gridCol>
                <a:gridCol w="623115">
                  <a:extLst>
                    <a:ext uri="{9D8B030D-6E8A-4147-A177-3AD203B41FA5}">
                      <a16:colId xmlns:a16="http://schemas.microsoft.com/office/drawing/2014/main" val="2485937497"/>
                    </a:ext>
                  </a:extLst>
                </a:gridCol>
                <a:gridCol w="2356156">
                  <a:extLst>
                    <a:ext uri="{9D8B030D-6E8A-4147-A177-3AD203B41FA5}">
                      <a16:colId xmlns:a16="http://schemas.microsoft.com/office/drawing/2014/main" val="304012040"/>
                    </a:ext>
                  </a:extLst>
                </a:gridCol>
                <a:gridCol w="7457915">
                  <a:extLst>
                    <a:ext uri="{9D8B030D-6E8A-4147-A177-3AD203B41FA5}">
                      <a16:colId xmlns:a16="http://schemas.microsoft.com/office/drawing/2014/main" val="1610085393"/>
                    </a:ext>
                  </a:extLst>
                </a:gridCol>
              </a:tblGrid>
              <a:tr h="3096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District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Model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R²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RMSE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MAE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Feature Selection Method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Selected Features (Weather Parameter – SMW)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extLst>
                  <a:ext uri="{0D108BD9-81ED-4DB2-BD59-A6C34878D82A}">
                    <a16:rowId xmlns:a16="http://schemas.microsoft.com/office/drawing/2014/main" val="2915284297"/>
                  </a:ext>
                </a:extLst>
              </a:tr>
              <a:tr h="3096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 err="1">
                          <a:effectLst/>
                        </a:rPr>
                        <a:t>Banaskantha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Stepwise Linear Regression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0.714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1.119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0.922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RFE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BSS–44, WS–44, WS–45, BSS–49, Tmin–50, Tmin–52, Tmax–5, BSS–5, Tmin–6, WS–8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extLst>
                  <a:ext uri="{0D108BD9-81ED-4DB2-BD59-A6C34878D82A}">
                    <a16:rowId xmlns:a16="http://schemas.microsoft.com/office/drawing/2014/main" val="2729865580"/>
                  </a:ext>
                </a:extLst>
              </a:tr>
              <a:tr h="3096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Random Forest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-0.007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2.099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1.644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 err="1">
                          <a:effectLst/>
                        </a:rPr>
                        <a:t>SelectKBest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WS–6, Lag-1 Yield Anomaly, Tmax–3, Tmin–6, BSS–44, Tmin–42, Tmin–50, RH–44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extLst>
                  <a:ext uri="{0D108BD9-81ED-4DB2-BD59-A6C34878D82A}">
                    <a16:rowId xmlns:a16="http://schemas.microsoft.com/office/drawing/2014/main" val="1905799808"/>
                  </a:ext>
                </a:extLst>
              </a:tr>
              <a:tr h="3096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XGBoost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0.013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2.078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1.629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SelectKBest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WS–6, Lag-1 Yield Anomaly, Tmax–3, Tmin–6, BSS–44, Tmin–42, Tmin–50, RH–44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extLst>
                  <a:ext uri="{0D108BD9-81ED-4DB2-BD59-A6C34878D82A}">
                    <a16:rowId xmlns:a16="http://schemas.microsoft.com/office/drawing/2014/main" val="663506116"/>
                  </a:ext>
                </a:extLst>
              </a:tr>
              <a:tr h="5805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SVR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0.732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1.083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0.937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RFE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BSS–44, WS–44, WS–45, BSS–49, </a:t>
                      </a:r>
                      <a:r>
                        <a:rPr lang="en-IN" sz="1600" u="none" strike="noStrike" dirty="0" err="1">
                          <a:effectLst/>
                        </a:rPr>
                        <a:t>Tmin</a:t>
                      </a:r>
                      <a:r>
                        <a:rPr lang="en-IN" sz="1600" u="none" strike="noStrike" dirty="0">
                          <a:effectLst/>
                        </a:rPr>
                        <a:t>–50, </a:t>
                      </a:r>
                      <a:r>
                        <a:rPr lang="en-IN" sz="1600" u="none" strike="noStrike" dirty="0" err="1">
                          <a:effectLst/>
                        </a:rPr>
                        <a:t>Tmin</a:t>
                      </a:r>
                      <a:r>
                        <a:rPr lang="en-IN" sz="1600" u="none" strike="noStrike" dirty="0">
                          <a:effectLst/>
                        </a:rPr>
                        <a:t>–52, </a:t>
                      </a:r>
                      <a:r>
                        <a:rPr lang="en-IN" sz="1600" u="none" strike="noStrike" dirty="0" err="1">
                          <a:effectLst/>
                        </a:rPr>
                        <a:t>Tmax</a:t>
                      </a:r>
                      <a:r>
                        <a:rPr lang="en-IN" sz="1600" u="none" strike="noStrike" dirty="0">
                          <a:effectLst/>
                        </a:rPr>
                        <a:t>–5, BSS–5, </a:t>
                      </a:r>
                      <a:r>
                        <a:rPr lang="en-IN" sz="1600" u="none" strike="noStrike" dirty="0" err="1">
                          <a:effectLst/>
                        </a:rPr>
                        <a:t>Tmin</a:t>
                      </a:r>
                      <a:r>
                        <a:rPr lang="en-IN" sz="1600" u="none" strike="noStrike" dirty="0">
                          <a:effectLst/>
                        </a:rPr>
                        <a:t>–6, WS–8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extLst>
                  <a:ext uri="{0D108BD9-81ED-4DB2-BD59-A6C34878D82A}">
                    <a16:rowId xmlns:a16="http://schemas.microsoft.com/office/drawing/2014/main" val="2509239052"/>
                  </a:ext>
                </a:extLst>
              </a:tr>
              <a:tr h="3096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KNN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0.23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1.836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1.461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SelectKBest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WS–6, Lag-1 Yield Anomaly, Tmax–3, Tmin–6, BSS–44, Tmin–42, Tmin–50, RH–44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extLst>
                  <a:ext uri="{0D108BD9-81ED-4DB2-BD59-A6C34878D82A}">
                    <a16:rowId xmlns:a16="http://schemas.microsoft.com/office/drawing/2014/main" val="4186565270"/>
                  </a:ext>
                </a:extLst>
              </a:tr>
              <a:tr h="3096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ANN (MLP)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0.49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1.494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1.28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RFE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BSS–44, WS–44, WS–45, BSS–49, </a:t>
                      </a:r>
                      <a:r>
                        <a:rPr lang="en-IN" sz="1600" u="none" strike="noStrike" dirty="0" err="1">
                          <a:effectLst/>
                        </a:rPr>
                        <a:t>Tmin</a:t>
                      </a:r>
                      <a:r>
                        <a:rPr lang="en-IN" sz="1600" u="none" strike="noStrike" dirty="0">
                          <a:effectLst/>
                        </a:rPr>
                        <a:t>–50, </a:t>
                      </a:r>
                      <a:r>
                        <a:rPr lang="en-IN" sz="1600" u="none" strike="noStrike" dirty="0" err="1">
                          <a:effectLst/>
                        </a:rPr>
                        <a:t>Tmin</a:t>
                      </a:r>
                      <a:r>
                        <a:rPr lang="en-IN" sz="1600" u="none" strike="noStrike" dirty="0">
                          <a:effectLst/>
                        </a:rPr>
                        <a:t>–52, </a:t>
                      </a:r>
                      <a:r>
                        <a:rPr lang="en-IN" sz="1600" u="none" strike="noStrike" dirty="0" err="1">
                          <a:effectLst/>
                        </a:rPr>
                        <a:t>Tmax</a:t>
                      </a:r>
                      <a:r>
                        <a:rPr lang="en-IN" sz="1600" u="none" strike="noStrike" dirty="0">
                          <a:effectLst/>
                        </a:rPr>
                        <a:t>–5, BSS–5, </a:t>
                      </a:r>
                      <a:r>
                        <a:rPr lang="en-IN" sz="1600" u="none" strike="noStrike" dirty="0" err="1">
                          <a:effectLst/>
                        </a:rPr>
                        <a:t>Tmin</a:t>
                      </a:r>
                      <a:r>
                        <a:rPr lang="en-IN" sz="1600" u="none" strike="noStrike" dirty="0">
                          <a:effectLst/>
                        </a:rPr>
                        <a:t>–6, WS–8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extLst>
                  <a:ext uri="{0D108BD9-81ED-4DB2-BD59-A6C34878D82A}">
                    <a16:rowId xmlns:a16="http://schemas.microsoft.com/office/drawing/2014/main" val="2560563834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2BCD0A2-4678-A4F4-7468-CB17C5FCD2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6373394"/>
              </p:ext>
            </p:extLst>
          </p:nvPr>
        </p:nvGraphicFramePr>
        <p:xfrm>
          <a:off x="273611" y="3716000"/>
          <a:ext cx="15537592" cy="236220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210215">
                  <a:extLst>
                    <a:ext uri="{9D8B030D-6E8A-4147-A177-3AD203B41FA5}">
                      <a16:colId xmlns:a16="http://schemas.microsoft.com/office/drawing/2014/main" val="2615560383"/>
                    </a:ext>
                  </a:extLst>
                </a:gridCol>
                <a:gridCol w="2439949">
                  <a:extLst>
                    <a:ext uri="{9D8B030D-6E8A-4147-A177-3AD203B41FA5}">
                      <a16:colId xmlns:a16="http://schemas.microsoft.com/office/drawing/2014/main" val="1262057887"/>
                    </a:ext>
                  </a:extLst>
                </a:gridCol>
                <a:gridCol w="800302">
                  <a:extLst>
                    <a:ext uri="{9D8B030D-6E8A-4147-A177-3AD203B41FA5}">
                      <a16:colId xmlns:a16="http://schemas.microsoft.com/office/drawing/2014/main" val="2938820740"/>
                    </a:ext>
                  </a:extLst>
                </a:gridCol>
                <a:gridCol w="624627">
                  <a:extLst>
                    <a:ext uri="{9D8B030D-6E8A-4147-A177-3AD203B41FA5}">
                      <a16:colId xmlns:a16="http://schemas.microsoft.com/office/drawing/2014/main" val="2533414729"/>
                    </a:ext>
                  </a:extLst>
                </a:gridCol>
                <a:gridCol w="624627">
                  <a:extLst>
                    <a:ext uri="{9D8B030D-6E8A-4147-A177-3AD203B41FA5}">
                      <a16:colId xmlns:a16="http://schemas.microsoft.com/office/drawing/2014/main" val="3307968529"/>
                    </a:ext>
                  </a:extLst>
                </a:gridCol>
                <a:gridCol w="2361870">
                  <a:extLst>
                    <a:ext uri="{9D8B030D-6E8A-4147-A177-3AD203B41FA5}">
                      <a16:colId xmlns:a16="http://schemas.microsoft.com/office/drawing/2014/main" val="3030955439"/>
                    </a:ext>
                  </a:extLst>
                </a:gridCol>
                <a:gridCol w="7476002">
                  <a:extLst>
                    <a:ext uri="{9D8B030D-6E8A-4147-A177-3AD203B41FA5}">
                      <a16:colId xmlns:a16="http://schemas.microsoft.com/office/drawing/2014/main" val="1953461518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 err="1">
                          <a:effectLst/>
                        </a:rPr>
                        <a:t>Sabarkantha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Stepwise Linear Regression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0.714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2.669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2.109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RFE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Tmax–2, BSS–46, BSS–48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extLst>
                  <a:ext uri="{0D108BD9-81ED-4DB2-BD59-A6C34878D82A}">
                    <a16:rowId xmlns:a16="http://schemas.microsoft.com/office/drawing/2014/main" val="1041583096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Random Forest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0.785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2.314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1.641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RFE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Tmin–8, Mean RH–48, Mean RH–49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extLst>
                  <a:ext uri="{0D108BD9-81ED-4DB2-BD59-A6C34878D82A}">
                    <a16:rowId xmlns:a16="http://schemas.microsoft.com/office/drawing/2014/main" val="414945311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 err="1">
                          <a:effectLst/>
                        </a:rPr>
                        <a:t>XGBoost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0.784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2.318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1.869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RFE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 err="1">
                          <a:effectLst/>
                        </a:rPr>
                        <a:t>Tmax</a:t>
                      </a:r>
                      <a:r>
                        <a:rPr lang="en-IN" sz="1600" u="none" strike="noStrike" dirty="0">
                          <a:effectLst/>
                        </a:rPr>
                        <a:t>–2, </a:t>
                      </a:r>
                      <a:r>
                        <a:rPr lang="en-IN" sz="1600" u="none" strike="noStrike" dirty="0" err="1">
                          <a:effectLst/>
                        </a:rPr>
                        <a:t>Tmax</a:t>
                      </a:r>
                      <a:r>
                        <a:rPr lang="en-IN" sz="1600" u="none" strike="noStrike" dirty="0">
                          <a:effectLst/>
                        </a:rPr>
                        <a:t>–4, Mean RH–48, Mean RH–49, Mean RH–2, WS–45, WS–46, RF–42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extLst>
                  <a:ext uri="{0D108BD9-81ED-4DB2-BD59-A6C34878D82A}">
                    <a16:rowId xmlns:a16="http://schemas.microsoft.com/office/drawing/2014/main" val="4026040081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SVR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0.871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1.789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1.25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Mutual Information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Tmax–48, Mean RH–49, Tmin–8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extLst>
                  <a:ext uri="{0D108BD9-81ED-4DB2-BD59-A6C34878D82A}">
                    <a16:rowId xmlns:a16="http://schemas.microsoft.com/office/drawing/2014/main" val="1747709844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KNN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0.824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2.094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1.472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Mutual Information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 err="1">
                          <a:effectLst/>
                        </a:rPr>
                        <a:t>Tmax</a:t>
                      </a:r>
                      <a:r>
                        <a:rPr lang="en-IN" sz="1600" u="none" strike="noStrike" dirty="0">
                          <a:effectLst/>
                        </a:rPr>
                        <a:t>–48, Mean RH–49, </a:t>
                      </a:r>
                      <a:r>
                        <a:rPr lang="en-IN" sz="1600" u="none" strike="noStrike" dirty="0" err="1">
                          <a:effectLst/>
                        </a:rPr>
                        <a:t>Tmin</a:t>
                      </a:r>
                      <a:r>
                        <a:rPr lang="en-IN" sz="1600" u="none" strike="noStrike" dirty="0">
                          <a:effectLst/>
                        </a:rPr>
                        <a:t>–8, </a:t>
                      </a:r>
                      <a:r>
                        <a:rPr lang="en-IN" sz="1600" u="none" strike="noStrike" dirty="0" err="1">
                          <a:effectLst/>
                        </a:rPr>
                        <a:t>Tmin</a:t>
                      </a:r>
                      <a:r>
                        <a:rPr lang="en-IN" sz="1600" u="none" strike="noStrike" dirty="0">
                          <a:effectLst/>
                        </a:rPr>
                        <a:t>–48, BSS–44, </a:t>
                      </a:r>
                      <a:r>
                        <a:rPr lang="en-IN" sz="1600" u="none" strike="noStrike" dirty="0" err="1">
                          <a:effectLst/>
                        </a:rPr>
                        <a:t>Tmax</a:t>
                      </a:r>
                      <a:r>
                        <a:rPr lang="en-IN" sz="1600" u="none" strike="noStrike" dirty="0">
                          <a:effectLst/>
                        </a:rPr>
                        <a:t>–43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extLst>
                  <a:ext uri="{0D108BD9-81ED-4DB2-BD59-A6C34878D82A}">
                    <a16:rowId xmlns:a16="http://schemas.microsoft.com/office/drawing/2014/main" val="3958905901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ANN (MLP)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0.541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3.378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2.526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Mutual Information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 err="1">
                          <a:effectLst/>
                        </a:rPr>
                        <a:t>Tmax</a:t>
                      </a:r>
                      <a:r>
                        <a:rPr lang="en-IN" sz="1600" u="none" strike="noStrike" dirty="0">
                          <a:effectLst/>
                        </a:rPr>
                        <a:t>–48, Mean RH–49, </a:t>
                      </a:r>
                      <a:r>
                        <a:rPr lang="en-IN" sz="1600" u="none" strike="noStrike" dirty="0" err="1">
                          <a:effectLst/>
                        </a:rPr>
                        <a:t>Tmin</a:t>
                      </a:r>
                      <a:r>
                        <a:rPr lang="en-IN" sz="1600" u="none" strike="noStrike" dirty="0">
                          <a:effectLst/>
                        </a:rPr>
                        <a:t>–8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extLst>
                  <a:ext uri="{0D108BD9-81ED-4DB2-BD59-A6C34878D82A}">
                    <a16:rowId xmlns:a16="http://schemas.microsoft.com/office/drawing/2014/main" val="3181714032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9D980F2-9832-F05C-AAB9-8878D46B56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583222"/>
              </p:ext>
            </p:extLst>
          </p:nvPr>
        </p:nvGraphicFramePr>
        <p:xfrm>
          <a:off x="348794" y="6301835"/>
          <a:ext cx="15462409" cy="2121730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1204358">
                  <a:extLst>
                    <a:ext uri="{9D8B030D-6E8A-4147-A177-3AD203B41FA5}">
                      <a16:colId xmlns:a16="http://schemas.microsoft.com/office/drawing/2014/main" val="1628795591"/>
                    </a:ext>
                  </a:extLst>
                </a:gridCol>
                <a:gridCol w="2428143">
                  <a:extLst>
                    <a:ext uri="{9D8B030D-6E8A-4147-A177-3AD203B41FA5}">
                      <a16:colId xmlns:a16="http://schemas.microsoft.com/office/drawing/2014/main" val="3029374234"/>
                    </a:ext>
                  </a:extLst>
                </a:gridCol>
                <a:gridCol w="796430">
                  <a:extLst>
                    <a:ext uri="{9D8B030D-6E8A-4147-A177-3AD203B41FA5}">
                      <a16:colId xmlns:a16="http://schemas.microsoft.com/office/drawing/2014/main" val="2064372018"/>
                    </a:ext>
                  </a:extLst>
                </a:gridCol>
                <a:gridCol w="621604">
                  <a:extLst>
                    <a:ext uri="{9D8B030D-6E8A-4147-A177-3AD203B41FA5}">
                      <a16:colId xmlns:a16="http://schemas.microsoft.com/office/drawing/2014/main" val="2273062858"/>
                    </a:ext>
                  </a:extLst>
                </a:gridCol>
                <a:gridCol w="621604">
                  <a:extLst>
                    <a:ext uri="{9D8B030D-6E8A-4147-A177-3AD203B41FA5}">
                      <a16:colId xmlns:a16="http://schemas.microsoft.com/office/drawing/2014/main" val="490504613"/>
                    </a:ext>
                  </a:extLst>
                </a:gridCol>
                <a:gridCol w="2350442">
                  <a:extLst>
                    <a:ext uri="{9D8B030D-6E8A-4147-A177-3AD203B41FA5}">
                      <a16:colId xmlns:a16="http://schemas.microsoft.com/office/drawing/2014/main" val="646432986"/>
                    </a:ext>
                  </a:extLst>
                </a:gridCol>
                <a:gridCol w="7439828">
                  <a:extLst>
                    <a:ext uri="{9D8B030D-6E8A-4147-A177-3AD203B41FA5}">
                      <a16:colId xmlns:a16="http://schemas.microsoft.com/office/drawing/2014/main" val="3293409858"/>
                    </a:ext>
                  </a:extLst>
                </a:gridCol>
              </a:tblGrid>
              <a:tr h="4037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Mehsana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Stepwise Linear Regression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0.59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1.231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0.948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SelectKBest (F-test)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WS–49, WS–52, WS–1, </a:t>
                      </a:r>
                      <a:r>
                        <a:rPr lang="en-IN" sz="1600" u="none" strike="noStrike" dirty="0" err="1">
                          <a:effectLst/>
                        </a:rPr>
                        <a:t>Tmin</a:t>
                      </a:r>
                      <a:r>
                        <a:rPr lang="en-IN" sz="1600" u="none" strike="noStrike" dirty="0">
                          <a:effectLst/>
                        </a:rPr>
                        <a:t>–43, Lag-1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extLst>
                  <a:ext uri="{0D108BD9-81ED-4DB2-BD59-A6C34878D82A}">
                    <a16:rowId xmlns:a16="http://schemas.microsoft.com/office/drawing/2014/main" val="123863448"/>
                  </a:ext>
                </a:extLst>
              </a:tr>
              <a:tr h="3435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Random Forest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0.39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1.506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1.12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SelectKBest (F-test)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WS–49, WS–52, WS–1, </a:t>
                      </a:r>
                      <a:r>
                        <a:rPr lang="en-IN" sz="1600" u="none" strike="noStrike" dirty="0" err="1">
                          <a:effectLst/>
                        </a:rPr>
                        <a:t>Tmin</a:t>
                      </a:r>
                      <a:r>
                        <a:rPr lang="en-IN" sz="1600" u="none" strike="noStrike" dirty="0">
                          <a:effectLst/>
                        </a:rPr>
                        <a:t>–43, Lag-1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extLst>
                  <a:ext uri="{0D108BD9-81ED-4DB2-BD59-A6C34878D82A}">
                    <a16:rowId xmlns:a16="http://schemas.microsoft.com/office/drawing/2014/main" val="433577814"/>
                  </a:ext>
                </a:extLst>
              </a:tr>
              <a:tr h="3435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XGBoost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0.46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1.421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1.094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SelectKBest (F-test)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WS–49, WS–52, WS–1, Tmin–43, Lag-1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extLst>
                  <a:ext uri="{0D108BD9-81ED-4DB2-BD59-A6C34878D82A}">
                    <a16:rowId xmlns:a16="http://schemas.microsoft.com/office/drawing/2014/main" val="1017384168"/>
                  </a:ext>
                </a:extLst>
              </a:tr>
              <a:tr h="3435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SVR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0.41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1.483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1.258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Forward Selection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WS–49, WS–52, Tmin–44, Tmin–49, Lag-1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extLst>
                  <a:ext uri="{0D108BD9-81ED-4DB2-BD59-A6C34878D82A}">
                    <a16:rowId xmlns:a16="http://schemas.microsoft.com/office/drawing/2014/main" val="2970906874"/>
                  </a:ext>
                </a:extLst>
              </a:tr>
              <a:tr h="3435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KNN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0.45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1.434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1.265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Forward Selection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WS–49, WS–52, Tmax–1, Tmin–44, Tmin–49, Lag-1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extLst>
                  <a:ext uri="{0D108BD9-81ED-4DB2-BD59-A6C34878D82A}">
                    <a16:rowId xmlns:a16="http://schemas.microsoft.com/office/drawing/2014/main" val="4092302279"/>
                  </a:ext>
                </a:extLst>
              </a:tr>
              <a:tr h="3435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ANN (MLP)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0.36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1.539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1.254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RFE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BSS–45, BSS–51, BSS–52, WS–49, WS–52, WS–1, WS–5, </a:t>
                      </a:r>
                      <a:r>
                        <a:rPr lang="en-IN" sz="1600" u="none" strike="noStrike" dirty="0" err="1">
                          <a:effectLst/>
                        </a:rPr>
                        <a:t>Tmin</a:t>
                      </a:r>
                      <a:r>
                        <a:rPr lang="en-IN" sz="1600" u="none" strike="noStrike" dirty="0">
                          <a:effectLst/>
                        </a:rPr>
                        <a:t>–49, Mean RH–49, Lag-1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3" marR="6203" marT="6203" marB="0" anchor="b"/>
                </a:tc>
                <a:extLst>
                  <a:ext uri="{0D108BD9-81ED-4DB2-BD59-A6C34878D82A}">
                    <a16:rowId xmlns:a16="http://schemas.microsoft.com/office/drawing/2014/main" val="41937748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73150E-E364-8496-9004-B15A5157CB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625" y="457199"/>
            <a:ext cx="14968749" cy="67056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A973EE-49F9-B3F6-0701-14ECFF0AF25A}"/>
              </a:ext>
            </a:extLst>
          </p:cNvPr>
          <p:cNvSpPr txBox="1"/>
          <p:nvPr/>
        </p:nvSpPr>
        <p:spPr>
          <a:xfrm>
            <a:off x="2413001" y="7467599"/>
            <a:ext cx="3886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Segoe UI"/>
                <a:ea typeface="Segoe UI"/>
                <a:cs typeface="Segoe UI"/>
              </a:rPr>
              <a:t>Strongest Positive Association</a:t>
            </a:r>
            <a:br>
              <a:rPr lang="en-IN" dirty="0">
                <a:latin typeface="Segoe UI"/>
                <a:ea typeface="Segoe UI"/>
                <a:cs typeface="Segoe UI"/>
              </a:rPr>
            </a:br>
            <a:r>
              <a:rPr lang="en-IN" b="1" dirty="0">
                <a:latin typeface="Segoe UI"/>
                <a:ea typeface="Segoe UI"/>
                <a:cs typeface="Segoe UI"/>
              </a:rPr>
              <a:t>Wind Speed – SMW 6: r = +0.47</a:t>
            </a:r>
            <a:endParaRPr lang="en-IN" dirty="0">
              <a:latin typeface="Segoe UI"/>
              <a:ea typeface="Segoe UI"/>
              <a:cs typeface="Segoe U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D1AB2C-CFAF-8630-B037-156791BC0C00}"/>
              </a:ext>
            </a:extLst>
          </p:cNvPr>
          <p:cNvSpPr txBox="1"/>
          <p:nvPr/>
        </p:nvSpPr>
        <p:spPr>
          <a:xfrm>
            <a:off x="9347200" y="7467600"/>
            <a:ext cx="518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Segoe UI"/>
                <a:ea typeface="Segoe UI"/>
                <a:cs typeface="Segoe UI"/>
              </a:rPr>
              <a:t>Strongest Negative Association</a:t>
            </a:r>
            <a:br>
              <a:rPr lang="en-IN" dirty="0">
                <a:latin typeface="Segoe UI"/>
                <a:ea typeface="Segoe UI"/>
                <a:cs typeface="Segoe UI"/>
              </a:rPr>
            </a:br>
            <a:r>
              <a:rPr lang="en-IN" b="1" dirty="0">
                <a:latin typeface="Segoe UI"/>
                <a:ea typeface="Segoe UI"/>
                <a:cs typeface="Segoe UI"/>
              </a:rPr>
              <a:t>Maximum Temperature – SMW 3: r = −0.36</a:t>
            </a:r>
            <a:endParaRPr lang="en-IN" dirty="0">
              <a:latin typeface="Segoe UI"/>
              <a:ea typeface="Segoe UI"/>
              <a:cs typeface="Segoe UI"/>
            </a:endParaRPr>
          </a:p>
        </p:txBody>
      </p:sp>
      <p:sp>
        <p:nvSpPr>
          <p:cNvPr id="8" name="Source Note"/>
          <p:cNvSpPr txBox="1"/>
          <p:nvPr/>
        </p:nvSpPr>
        <p:spPr>
          <a:xfrm>
            <a:off x="2597200" y="8856568"/>
            <a:ext cx="13500000" cy="260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/>
            <a:r>
              <a:rPr lang="en-IN" sz="1400" i="1" dirty="0">
                <a:solidFill>
                  <a:srgbClr val="262626"/>
                </a:solidFill>
                <a:latin typeface="Segoe UI"/>
                <a:ea typeface="Segoe UI"/>
                <a:cs typeface="Segoe UI"/>
              </a:rPr>
              <a:t>Source: Allen et al., 1998 and </a:t>
            </a:r>
            <a:r>
              <a:rPr lang="en-IN" sz="1400" i="1" dirty="0" err="1">
                <a:solidFill>
                  <a:srgbClr val="262626"/>
                </a:solidFill>
                <a:latin typeface="Segoe UI"/>
                <a:ea typeface="Segoe UI"/>
                <a:cs typeface="Segoe UI"/>
              </a:rPr>
              <a:t>Haverkort</a:t>
            </a:r>
            <a:r>
              <a:rPr lang="en-IN" sz="1400" i="1" dirty="0">
                <a:solidFill>
                  <a:srgbClr val="262626"/>
                </a:solidFill>
                <a:latin typeface="Segoe UI"/>
                <a:ea typeface="Segoe UI"/>
                <a:cs typeface="Segoe UI"/>
              </a:rPr>
              <a:t>, 1990</a:t>
            </a:r>
          </a:p>
        </p:txBody>
      </p:sp>
    </p:spTree>
    <p:extLst>
      <p:ext uri="{BB962C8B-B14F-4D97-AF65-F5344CB8AC3E}">
        <p14:creationId xmlns:p14="http://schemas.microsoft.com/office/powerpoint/2010/main" val="34768704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328DB7D-A0A1-769D-35B4-A4A09C6303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990600"/>
            <a:ext cx="15240000" cy="57816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A527F6-D5C0-ED88-30FD-CCE0D76EBA02}"/>
              </a:ext>
            </a:extLst>
          </p:cNvPr>
          <p:cNvSpPr txBox="1"/>
          <p:nvPr/>
        </p:nvSpPr>
        <p:spPr>
          <a:xfrm>
            <a:off x="3200404" y="7184434"/>
            <a:ext cx="434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Segoe UI"/>
                <a:ea typeface="Segoe UI"/>
                <a:cs typeface="Segoe UI"/>
              </a:rPr>
              <a:t>Strongest Positive Association</a:t>
            </a:r>
            <a:br>
              <a:rPr lang="en-IN" dirty="0">
                <a:latin typeface="Segoe UI"/>
                <a:ea typeface="Segoe UI"/>
                <a:cs typeface="Segoe UI"/>
              </a:rPr>
            </a:br>
            <a:r>
              <a:rPr lang="en-IN" b="1" dirty="0">
                <a:latin typeface="Segoe UI"/>
                <a:ea typeface="Segoe UI"/>
                <a:cs typeface="Segoe UI"/>
              </a:rPr>
              <a:t>Wind Speed – SMW 49: r = +0.34</a:t>
            </a:r>
            <a:endParaRPr lang="en-IN" dirty="0">
              <a:latin typeface="Segoe UI"/>
              <a:ea typeface="Segoe UI"/>
              <a:cs typeface="Segoe U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12D714-20C9-81D5-EC7E-8FCAF95B034B}"/>
              </a:ext>
            </a:extLst>
          </p:cNvPr>
          <p:cNvSpPr txBox="1"/>
          <p:nvPr/>
        </p:nvSpPr>
        <p:spPr>
          <a:xfrm>
            <a:off x="9728202" y="7191522"/>
            <a:ext cx="4343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Segoe UI"/>
                <a:ea typeface="Segoe UI"/>
                <a:cs typeface="Segoe UI"/>
              </a:rPr>
              <a:t>Strongest Negative Association</a:t>
            </a:r>
            <a:br>
              <a:rPr lang="en-IN" dirty="0">
                <a:latin typeface="Segoe UI"/>
                <a:ea typeface="Segoe UI"/>
                <a:cs typeface="Segoe UI"/>
              </a:rPr>
            </a:br>
            <a:r>
              <a:rPr lang="en-IN" b="1" dirty="0">
                <a:latin typeface="Segoe UI"/>
                <a:ea typeface="Segoe UI"/>
                <a:cs typeface="Segoe UI"/>
              </a:rPr>
              <a:t>Bright Sunshine and MINT – SMW 49 and SMW 4: - </a:t>
            </a:r>
            <a:br>
              <a:rPr lang="en-IN" b="1" dirty="0">
                <a:latin typeface="Segoe UI"/>
                <a:ea typeface="Segoe UI"/>
                <a:cs typeface="Segoe UI"/>
              </a:rPr>
            </a:br>
            <a:r>
              <a:rPr lang="en-IN" b="1" dirty="0">
                <a:latin typeface="Segoe UI"/>
                <a:ea typeface="Segoe UI"/>
                <a:cs typeface="Segoe UI"/>
              </a:rPr>
              <a:t>r = −0.33 and -0.33</a:t>
            </a:r>
            <a:endParaRPr lang="en-IN" dirty="0">
              <a:latin typeface="Segoe UI"/>
              <a:ea typeface="Segoe UI"/>
              <a:cs typeface="Segoe UI"/>
            </a:endParaRPr>
          </a:p>
          <a:p>
            <a:endParaRPr lang="en-IN" dirty="0">
              <a:latin typeface="Segoe UI"/>
              <a:ea typeface="Segoe UI"/>
              <a:cs typeface="Segoe UI"/>
            </a:endParaRPr>
          </a:p>
        </p:txBody>
      </p:sp>
      <p:sp>
        <p:nvSpPr>
          <p:cNvPr id="9" name="Source Note"/>
          <p:cNvSpPr txBox="1"/>
          <p:nvPr/>
        </p:nvSpPr>
        <p:spPr>
          <a:xfrm>
            <a:off x="2565400" y="8884000"/>
            <a:ext cx="13500000" cy="260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/>
            <a:r>
              <a:rPr lang="en-IN" sz="1400" i="1" dirty="0">
                <a:solidFill>
                  <a:srgbClr val="262626"/>
                </a:solidFill>
                <a:latin typeface="Segoe UI"/>
                <a:ea typeface="Segoe UI"/>
                <a:cs typeface="Segoe UI"/>
              </a:rPr>
              <a:t>Source: Twing, 1981 &amp; Levy and Veilleux, 2007 </a:t>
            </a:r>
            <a:br>
              <a:rPr lang="en-IN" sz="1400" i="1" dirty="0">
                <a:solidFill>
                  <a:srgbClr val="262626"/>
                </a:solidFill>
                <a:latin typeface="Segoe UI"/>
                <a:ea typeface="Segoe UI"/>
                <a:cs typeface="Segoe UI"/>
              </a:rPr>
            </a:br>
            <a:r>
              <a:rPr lang="en-IN" sz="1400" i="1" dirty="0">
                <a:solidFill>
                  <a:srgbClr val="262626"/>
                </a:solidFill>
                <a:latin typeface="Segoe UI"/>
                <a:ea typeface="Segoe UI"/>
                <a:cs typeface="Segoe UI"/>
              </a:rPr>
              <a:t>Allen et al., 1981</a:t>
            </a:r>
          </a:p>
        </p:txBody>
      </p:sp>
    </p:spTree>
    <p:extLst>
      <p:ext uri="{BB962C8B-B14F-4D97-AF65-F5344CB8AC3E}">
        <p14:creationId xmlns:p14="http://schemas.microsoft.com/office/powerpoint/2010/main" val="15851699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BDC0BC-989D-E742-C21D-DB9B2C2D0F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762000"/>
            <a:ext cx="15240000" cy="58007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0B3847-0D50-B88E-AFE5-109AC766C090}"/>
              </a:ext>
            </a:extLst>
          </p:cNvPr>
          <p:cNvSpPr txBox="1"/>
          <p:nvPr/>
        </p:nvSpPr>
        <p:spPr>
          <a:xfrm>
            <a:off x="10566400" y="7242197"/>
            <a:ext cx="381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Segoe UI"/>
                <a:ea typeface="Segoe UI"/>
                <a:cs typeface="Segoe UI"/>
              </a:rPr>
              <a:t>Strongest Negative Association</a:t>
            </a:r>
            <a:br>
              <a:rPr lang="en-IN" dirty="0">
                <a:latin typeface="Segoe UI"/>
                <a:ea typeface="Segoe UI"/>
                <a:cs typeface="Segoe UI"/>
              </a:rPr>
            </a:br>
            <a:r>
              <a:rPr lang="en-IN" b="1" dirty="0">
                <a:latin typeface="Segoe UI"/>
                <a:ea typeface="Segoe UI"/>
                <a:cs typeface="Segoe UI"/>
              </a:rPr>
              <a:t>MAXT – SMW 3 &amp; 4: - </a:t>
            </a:r>
            <a:br>
              <a:rPr lang="en-IN" b="1" dirty="0">
                <a:latin typeface="Segoe UI"/>
                <a:ea typeface="Segoe UI"/>
                <a:cs typeface="Segoe UI"/>
              </a:rPr>
            </a:br>
            <a:r>
              <a:rPr lang="en-IN" b="1" dirty="0">
                <a:latin typeface="Segoe UI"/>
                <a:ea typeface="Segoe UI"/>
                <a:cs typeface="Segoe UI"/>
              </a:rPr>
              <a:t>r = -0.34, -0.33</a:t>
            </a:r>
            <a:endParaRPr lang="en-IN" dirty="0"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811E65-7965-D159-ACF1-FB6612C89216}"/>
              </a:ext>
            </a:extLst>
          </p:cNvPr>
          <p:cNvSpPr txBox="1"/>
          <p:nvPr/>
        </p:nvSpPr>
        <p:spPr>
          <a:xfrm>
            <a:off x="2285696" y="7242197"/>
            <a:ext cx="4648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Segoe UI"/>
                <a:ea typeface="Segoe UI"/>
                <a:cs typeface="Segoe UI"/>
              </a:rPr>
              <a:t>Strongest Positive Association</a:t>
            </a:r>
            <a:br>
              <a:rPr lang="en-IN" dirty="0">
                <a:latin typeface="Segoe UI"/>
                <a:ea typeface="Segoe UI"/>
                <a:cs typeface="Segoe UI"/>
              </a:rPr>
            </a:br>
            <a:r>
              <a:rPr lang="en-IN" b="1" dirty="0">
                <a:latin typeface="Segoe UI"/>
                <a:ea typeface="Segoe UI"/>
                <a:cs typeface="Segoe UI"/>
              </a:rPr>
              <a:t>MEAN_RH – SMW 44 - 46: -  </a:t>
            </a:r>
            <a:br>
              <a:rPr lang="en-IN" b="1" dirty="0">
                <a:latin typeface="Segoe UI"/>
                <a:ea typeface="Segoe UI"/>
                <a:cs typeface="Segoe UI"/>
              </a:rPr>
            </a:br>
            <a:r>
              <a:rPr lang="en-IN" b="1" dirty="0">
                <a:latin typeface="Segoe UI"/>
                <a:ea typeface="Segoe UI"/>
                <a:cs typeface="Segoe UI"/>
              </a:rPr>
              <a:t>r = +0.30, +0.29</a:t>
            </a:r>
            <a:endParaRPr lang="en-IN" dirty="0">
              <a:latin typeface="Segoe UI"/>
              <a:ea typeface="Segoe UI"/>
              <a:cs typeface="Segoe UI"/>
            </a:endParaRPr>
          </a:p>
        </p:txBody>
      </p:sp>
      <p:sp>
        <p:nvSpPr>
          <p:cNvPr id="8" name="Source Note"/>
          <p:cNvSpPr txBox="1"/>
          <p:nvPr/>
        </p:nvSpPr>
        <p:spPr>
          <a:xfrm>
            <a:off x="2413000" y="8844999"/>
            <a:ext cx="13500000" cy="260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/>
            <a:r>
              <a:rPr lang="en-IN" sz="1400" i="1" dirty="0">
                <a:solidFill>
                  <a:srgbClr val="262626"/>
                </a:solidFill>
                <a:latin typeface="Segoe UI"/>
                <a:ea typeface="Segoe UI"/>
                <a:cs typeface="Segoe UI"/>
              </a:rPr>
              <a:t>Source: </a:t>
            </a:r>
            <a:r>
              <a:rPr lang="en-IN" sz="1400" i="1" dirty="0" err="1">
                <a:solidFill>
                  <a:srgbClr val="262626"/>
                </a:solidFill>
                <a:latin typeface="Segoe UI"/>
                <a:ea typeface="Segoe UI"/>
                <a:cs typeface="Segoe UI"/>
              </a:rPr>
              <a:t>Haverkort</a:t>
            </a:r>
            <a:r>
              <a:rPr lang="en-IN" sz="1400" i="1" dirty="0">
                <a:solidFill>
                  <a:srgbClr val="262626"/>
                </a:solidFill>
                <a:latin typeface="Segoe UI"/>
                <a:ea typeface="Segoe UI"/>
                <a:cs typeface="Segoe UI"/>
              </a:rPr>
              <a:t> 1990 &amp; Hancock et al., 2014</a:t>
            </a:r>
            <a:br>
              <a:rPr lang="en-IN" sz="1400" i="1" dirty="0">
                <a:solidFill>
                  <a:srgbClr val="262626"/>
                </a:solidFill>
                <a:latin typeface="Segoe UI"/>
                <a:ea typeface="Segoe UI"/>
                <a:cs typeface="Segoe UI"/>
              </a:rPr>
            </a:br>
            <a:r>
              <a:rPr lang="en-IN" sz="1400" i="1" dirty="0">
                <a:solidFill>
                  <a:srgbClr val="262626"/>
                </a:solidFill>
                <a:latin typeface="Segoe UI"/>
                <a:ea typeface="Segoe UI"/>
                <a:cs typeface="Segoe UI"/>
              </a:rPr>
              <a:t>Allen et al., 1998</a:t>
            </a:r>
          </a:p>
        </p:txBody>
      </p:sp>
    </p:spTree>
    <p:extLst>
      <p:ext uri="{BB962C8B-B14F-4D97-AF65-F5344CB8AC3E}">
        <p14:creationId xmlns:p14="http://schemas.microsoft.com/office/powerpoint/2010/main" val="22883878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ource Note"/>
          <p:cNvSpPr txBox="1"/>
          <p:nvPr/>
        </p:nvSpPr>
        <p:spPr>
          <a:xfrm>
            <a:off x="203200" y="8845000"/>
            <a:ext cx="13500000" cy="260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IN" sz="1400" i="1" dirty="0">
                <a:solidFill>
                  <a:srgbClr val="262626"/>
                </a:solidFill>
              </a:rPr>
              <a:t>Source: Ewing, 1981 &amp; </a:t>
            </a:r>
            <a:r>
              <a:rPr lang="en-IN" sz="1400" i="1" dirty="0" err="1">
                <a:solidFill>
                  <a:srgbClr val="262626"/>
                </a:solidFill>
              </a:rPr>
              <a:t>Varaquaux</a:t>
            </a:r>
            <a:r>
              <a:rPr lang="en-IN" sz="1400" i="1" dirty="0">
                <a:solidFill>
                  <a:srgbClr val="262626"/>
                </a:solidFill>
              </a:rPr>
              <a:t>, 2018 &amp; </a:t>
            </a:r>
            <a:r>
              <a:rPr lang="en-IN" sz="1400" i="1" dirty="0" err="1">
                <a:solidFill>
                  <a:srgbClr val="262626"/>
                </a:solidFill>
              </a:rPr>
              <a:t>Hatie</a:t>
            </a:r>
            <a:r>
              <a:rPr lang="en-IN" sz="1400" i="1" dirty="0">
                <a:solidFill>
                  <a:srgbClr val="262626"/>
                </a:solidFill>
              </a:rPr>
              <a:t> et al., 2009 &amp; Joeng et al., 2016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66D43C-6671-780F-821C-8E17B08216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600" y="228600"/>
            <a:ext cx="14020800" cy="7315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39FD1C-52AA-9D4F-C313-3F058528927D}"/>
              </a:ext>
            </a:extLst>
          </p:cNvPr>
          <p:cNvSpPr txBox="1"/>
          <p:nvPr/>
        </p:nvSpPr>
        <p:spPr>
          <a:xfrm>
            <a:off x="4013200" y="7772400"/>
            <a:ext cx="80010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Segoe UI"/>
                <a:ea typeface="Segoe UI"/>
                <a:cs typeface="Segoe UI"/>
              </a:rPr>
              <a:t>Primary Vulnerability: Establishment</a:t>
            </a:r>
            <a:endParaRPr lang="en-IN" sz="2800" dirty="0">
              <a:latin typeface="Segoe UI"/>
              <a:ea typeface="Segoe UI"/>
              <a:cs typeface="Segoe UI"/>
            </a:endParaRPr>
          </a:p>
          <a:p>
            <a:r>
              <a:rPr lang="en-IN" sz="2800" b="1" dirty="0">
                <a:latin typeface="Segoe UI"/>
                <a:ea typeface="Segoe UI"/>
                <a:cs typeface="Segoe UI"/>
              </a:rPr>
              <a:t>Mean Temperature at SMW 44  r = −0.405</a:t>
            </a:r>
            <a:endParaRPr lang="en-IN" sz="2800" dirty="0">
              <a:latin typeface="Segoe UI"/>
              <a:ea typeface="Segoe UI"/>
              <a:cs typeface="Segoe UI"/>
            </a:endParaRPr>
          </a:p>
          <a:p>
            <a:endParaRPr lang="en-IN" dirty="0"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5300100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99F729-FB3A-FAC4-5358-D5770B4762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228600"/>
            <a:ext cx="14782800" cy="7391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73FDD0-F8BC-4DDC-5B05-B2D3762014E5}"/>
              </a:ext>
            </a:extLst>
          </p:cNvPr>
          <p:cNvSpPr txBox="1"/>
          <p:nvPr/>
        </p:nvSpPr>
        <p:spPr>
          <a:xfrm>
            <a:off x="4927600" y="7772400"/>
            <a:ext cx="6705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Segoe UI"/>
                <a:ea typeface="Segoe UI"/>
                <a:cs typeface="Segoe UI"/>
              </a:rPr>
              <a:t>Primary Vulnerability: Tuber Initiation</a:t>
            </a:r>
            <a:endParaRPr lang="en-IN" sz="2800" dirty="0">
              <a:latin typeface="Segoe UI"/>
              <a:ea typeface="Segoe UI"/>
              <a:cs typeface="Segoe UI"/>
            </a:endParaRPr>
          </a:p>
          <a:p>
            <a:r>
              <a:rPr lang="en-IN" sz="2800" b="1" dirty="0">
                <a:latin typeface="Segoe UI"/>
                <a:ea typeface="Segoe UI"/>
                <a:cs typeface="Segoe UI"/>
              </a:rPr>
              <a:t>Wind Speed at SMW 49  r = +0.344</a:t>
            </a:r>
            <a:endParaRPr lang="en-IN" sz="2800" dirty="0"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4532600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CED7E4-74BC-9B71-3F68-BE57C74B35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533400"/>
            <a:ext cx="14782800" cy="691947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E875CF-8846-1052-E632-2D327A28EA7F}"/>
              </a:ext>
            </a:extLst>
          </p:cNvPr>
          <p:cNvSpPr txBox="1"/>
          <p:nvPr/>
        </p:nvSpPr>
        <p:spPr>
          <a:xfrm>
            <a:off x="5765800" y="7687270"/>
            <a:ext cx="66294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Segoe UI"/>
                <a:ea typeface="Segoe UI"/>
                <a:cs typeface="Segoe UI"/>
              </a:rPr>
              <a:t>Primary Vulnerability: Maturation</a:t>
            </a:r>
            <a:endParaRPr lang="en-IN" sz="2800" dirty="0">
              <a:latin typeface="Segoe UI"/>
              <a:ea typeface="Segoe UI"/>
              <a:cs typeface="Segoe UI"/>
            </a:endParaRPr>
          </a:p>
          <a:p>
            <a:r>
              <a:rPr lang="en-IN" sz="2800" b="1" dirty="0">
                <a:latin typeface="Segoe UI"/>
                <a:ea typeface="Segoe UI"/>
                <a:cs typeface="Segoe UI"/>
              </a:rPr>
              <a:t>Wind Speed at SMW 6  r = +0.438</a:t>
            </a:r>
            <a:endParaRPr lang="en-IN" sz="2800" dirty="0">
              <a:latin typeface="Segoe UI"/>
              <a:ea typeface="Segoe UI"/>
              <a:cs typeface="Segoe UI"/>
            </a:endParaRPr>
          </a:p>
          <a:p>
            <a:endParaRPr lang="en-IN" dirty="0"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6669233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E94B2DC-B76C-D06C-66A7-3CC2502F7A4D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800" dirty="0">
                <a:solidFill>
                  <a:schemeClr val="tx1"/>
                </a:solidFill>
              </a:rPr>
              <a:t>THANK YOU 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89A629-04A2-251E-7A8C-761E13C7DC8A}"/>
              </a:ext>
            </a:extLst>
          </p:cNvPr>
          <p:cNvSpPr txBox="1"/>
          <p:nvPr/>
        </p:nvSpPr>
        <p:spPr>
          <a:xfrm>
            <a:off x="2413000" y="5486400"/>
            <a:ext cx="1196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/>
              <a:t>“Our sincere thanks to Dr. V.B.Vaidya and Dr. Manoj </a:t>
            </a:r>
            <a:r>
              <a:rPr lang="en-IN" b="1" i="1" dirty="0" err="1"/>
              <a:t>Lunagaria</a:t>
            </a:r>
            <a:r>
              <a:rPr lang="en-IN" b="1" i="1" dirty="0"/>
              <a:t>, for their guidance and support throughout this project”</a:t>
            </a:r>
          </a:p>
        </p:txBody>
      </p:sp>
    </p:spTree>
    <p:extLst>
      <p:ext uri="{BB962C8B-B14F-4D97-AF65-F5344CB8AC3E}">
        <p14:creationId xmlns:p14="http://schemas.microsoft.com/office/powerpoint/2010/main" val="943343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1338</TotalTime>
  <Words>1227</Words>
  <Application>Microsoft Office PowerPoint</Application>
  <PresentationFormat>Custom</PresentationFormat>
  <Paragraphs>188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Dhruv Soni</dc:creator>
  <cp:lastModifiedBy>Dhruv Soni</cp:lastModifiedBy>
  <cp:revision>31</cp:revision>
  <dcterms:created xsi:type="dcterms:W3CDTF">2006-08-16T00:00:00Z</dcterms:created>
  <dcterms:modified xsi:type="dcterms:W3CDTF">2026-10-06T08:54:38Z</dcterms:modified>
</cp:coreProperties>
</file>